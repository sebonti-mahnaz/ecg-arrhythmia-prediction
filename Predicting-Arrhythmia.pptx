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57" r:id="rId2"/>
    <p:sldId id="267" r:id="rId3"/>
    <p:sldId id="268" r:id="rId4"/>
    <p:sldId id="272" r:id="rId5"/>
    <p:sldId id="269" r:id="rId6"/>
    <p:sldId id="260" r:id="rId7"/>
    <p:sldId id="270" r:id="rId8"/>
    <p:sldId id="274" r:id="rId9"/>
    <p:sldId id="273" r:id="rId10"/>
    <p:sldId id="275" r:id="rId11"/>
    <p:sldId id="276" r:id="rId12"/>
    <p:sldId id="271" r:id="rId1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599" autoAdjust="0"/>
  </p:normalViewPr>
  <p:slideViewPr>
    <p:cSldViewPr>
      <p:cViewPr varScale="1">
        <p:scale>
          <a:sx n="92" d="100"/>
          <a:sy n="92" d="100"/>
        </p:scale>
        <p:origin x="54" y="447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9/23/2026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9/23/2026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9/23/2026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9/23/2026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9/23/2026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9/23/2026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9/23/2026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9/23/2026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228495437_ECG_measurements_and_acquisition_system_for_heart_rate_variability_analysi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mondejar/ecg-classification?fbclid=IwAR3Y9hVyKjIvJ45BU845ahWTWRu3h7toz7US1tr4NpBug1lkOnHKnom-TpQ" TargetMode="External"/><Relationship Id="rId4" Type="http://schemas.openxmlformats.org/officeDocument/2006/relationships/hyperlink" Target="https://github.com/mmontana/ECG-heartbeat-classification?fbclid=IwAR2B8DLv3qbIHyKPrPmzwqbxU8dg1E8IH4GugsfGizpWRQ4hB6Vn86xGcQ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7000"/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601198" cy="102076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Predicting arrhythmia Based on ECG</a:t>
            </a:r>
            <a:endParaRPr lang="en-US" sz="3600" b="1" dirty="0">
              <a:latin typeface="Algerian" panose="04020705040A02060702" pitchFamily="82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22414" y="1905000"/>
            <a:ext cx="9144000" cy="4678362"/>
          </a:xfrm>
        </p:spPr>
        <p:txBody>
          <a:bodyPr>
            <a:normAutofit/>
          </a:bodyPr>
          <a:lstStyle/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ABOUT</a:t>
            </a:r>
          </a:p>
          <a:p>
            <a:r>
              <a:rPr lang="en-US" b="1" dirty="0"/>
              <a:t>Supervised Learning</a:t>
            </a:r>
          </a:p>
          <a:p>
            <a:r>
              <a:rPr lang="en-US" b="1" dirty="0"/>
              <a:t>Predictions will be used</a:t>
            </a:r>
          </a:p>
          <a:p>
            <a:r>
              <a:rPr lang="en-US" b="1" dirty="0"/>
              <a:t>Data analysis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7000"/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u="sng" dirty="0">
                <a:latin typeface="Algerian" panose="04020705040A02060702" pitchFamily="82" charset="0"/>
              </a:rPr>
              <a:t>About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72419-90ED-4828-A157-A13C9A333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Supervised Learning</a:t>
            </a:r>
          </a:p>
          <a:p>
            <a:r>
              <a:rPr lang="en-US" sz="4000" b="1" dirty="0"/>
              <a:t>Predictions will be used</a:t>
            </a:r>
          </a:p>
          <a:p>
            <a:r>
              <a:rPr lang="en-US" sz="4000" b="1" dirty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396580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Algerian" panose="04020705040A02060702" pitchFamily="82" charset="0"/>
              </a:rPr>
              <a:t>Dataset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10134599" cy="4267200"/>
          </a:xfrm>
        </p:spPr>
        <p:txBody>
          <a:bodyPr>
            <a:normAutofit/>
          </a:bodyPr>
          <a:lstStyle/>
          <a:p>
            <a:r>
              <a:rPr lang="en-US" sz="3200" dirty="0"/>
              <a:t>109446 entries in total</a:t>
            </a:r>
          </a:p>
          <a:p>
            <a:r>
              <a:rPr lang="en-US" sz="3200" dirty="0"/>
              <a:t>Each column represents position of heartbeat rate in X-Y axis</a:t>
            </a:r>
          </a:p>
          <a:p>
            <a:r>
              <a:rPr lang="en-US" sz="3200" dirty="0"/>
              <a:t>Each row describes entries for different persons</a:t>
            </a:r>
          </a:p>
          <a:p>
            <a:r>
              <a:rPr lang="en-US" sz="3200" dirty="0"/>
              <a:t>Total 188 columns </a:t>
            </a:r>
          </a:p>
          <a:p>
            <a:r>
              <a:rPr lang="en-US" sz="3200" dirty="0"/>
              <a:t>The final element of each row denotes the class to which that example belongs</a:t>
            </a:r>
          </a:p>
        </p:txBody>
      </p:sp>
    </p:spTree>
    <p:extLst>
      <p:ext uri="{BB962C8B-B14F-4D97-AF65-F5344CB8AC3E}">
        <p14:creationId xmlns:p14="http://schemas.microsoft.com/office/powerpoint/2010/main" val="22373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12" y="762000"/>
            <a:ext cx="11809413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298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7000"/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10134600" cy="1020762"/>
          </a:xfrm>
        </p:spPr>
        <p:txBody>
          <a:bodyPr>
            <a:no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Explanation about the Algorithm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D93B988-85CF-4FC2-B5DC-2B66064CD8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6212" y="1905000"/>
            <a:ext cx="10134600" cy="4267200"/>
          </a:xfrm>
        </p:spPr>
        <p:txBody>
          <a:bodyPr>
            <a:normAutofit/>
          </a:bodyPr>
          <a:lstStyle/>
          <a:p>
            <a:r>
              <a:rPr lang="en-US" sz="3600" dirty="0"/>
              <a:t>One Hot Encoding- For Simplifying the Dataset.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89555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Algerian" panose="04020705040A02060702" pitchFamily="82" charset="0"/>
              </a:rPr>
              <a:t>Explanation about Code/Library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3936" y="1905000"/>
            <a:ext cx="9066276" cy="4114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</a:t>
            </a:r>
            <a:r>
              <a:rPr lang="en-US" sz="3200" b="1" dirty="0"/>
              <a:t>Availability of Resources (libraries like Pandas, NumPy, SciPy, matplotlib </a:t>
            </a:r>
            <a:r>
              <a:rPr lang="en-US" sz="3200" b="1" dirty="0" err="1"/>
              <a:t>etc</a:t>
            </a:r>
            <a:r>
              <a:rPr lang="en-US" sz="3200" b="1" dirty="0"/>
              <a:t>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b="1" dirty="0"/>
              <a:t> Relevant examples from </a:t>
            </a:r>
            <a:r>
              <a:rPr lang="en-US" sz="3200" b="1" dirty="0" err="1"/>
              <a:t>github</a:t>
            </a:r>
            <a:r>
              <a:rPr lang="en-US" sz="3200" b="1" dirty="0"/>
              <a:t> , </a:t>
            </a:r>
            <a:r>
              <a:rPr lang="en-US" sz="3200" b="1" dirty="0" err="1"/>
              <a:t>researchgate</a:t>
            </a:r>
            <a:r>
              <a:rPr lang="en-US" sz="3200" b="1" dirty="0"/>
              <a:t>, </a:t>
            </a:r>
            <a:r>
              <a:rPr lang="en-US" sz="3200" b="1" dirty="0" err="1"/>
              <a:t>youtube</a:t>
            </a:r>
            <a:r>
              <a:rPr lang="en-US" sz="3200" b="1" dirty="0"/>
              <a:t> channels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b="1" dirty="0"/>
              <a:t> Enough </a:t>
            </a:r>
            <a:r>
              <a:rPr lang="en-US" sz="3200" b="1" dirty="0" err="1"/>
              <a:t>Github</a:t>
            </a:r>
            <a:r>
              <a:rPr lang="en-US" sz="3200" b="1" dirty="0"/>
              <a:t> Repository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b="1" dirty="0"/>
              <a:t> Plentiful Published Papers for background stud</a:t>
            </a:r>
            <a:r>
              <a:rPr lang="en-US" sz="3200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413515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7000"/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u="sng" dirty="0">
                <a:latin typeface="Algerian" panose="04020705040A02060702" pitchFamily="82" charset="0"/>
              </a:rPr>
              <a:t>Explanation about your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72419-90ED-4828-A157-A13C9A333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905000"/>
            <a:ext cx="10439398" cy="42672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b="1" dirty="0"/>
              <a:t>Analyze the dataset to generate the ECG.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b="1" dirty="0"/>
              <a:t> We will use various library functions from Tensor flow and </a:t>
            </a:r>
            <a:r>
              <a:rPr lang="en-US" sz="3200" b="1" dirty="0" err="1"/>
              <a:t>Keras</a:t>
            </a:r>
            <a:r>
              <a:rPr lang="en-US" sz="3200" b="1" dirty="0"/>
              <a:t> Model to recreate a new model.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b="1" dirty="0"/>
              <a:t>We used </a:t>
            </a:r>
            <a:r>
              <a:rPr lang="en-US" sz="3200" b="1" dirty="0" err="1"/>
              <a:t>classification_report</a:t>
            </a:r>
            <a:r>
              <a:rPr lang="en-US" sz="3200" b="1" dirty="0"/>
              <a:t>, </a:t>
            </a:r>
            <a:r>
              <a:rPr lang="en-US" sz="3200" b="1" dirty="0" err="1"/>
              <a:t>confusion_matrix</a:t>
            </a:r>
            <a:r>
              <a:rPr lang="en-US" sz="3200" b="1" dirty="0"/>
              <a:t> functions to calculate the precision, recall and f1 score.</a:t>
            </a:r>
          </a:p>
        </p:txBody>
      </p:sp>
    </p:spTree>
    <p:extLst>
      <p:ext uri="{BB962C8B-B14F-4D97-AF65-F5344CB8AC3E}">
        <p14:creationId xmlns:p14="http://schemas.microsoft.com/office/powerpoint/2010/main" val="210653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A8CB1-159A-4465-A9AC-283718A74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RESULT ANALYSIS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87D38D-E15F-4573-BE31-63CEB09DFE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36" y="2362200"/>
            <a:ext cx="9143998" cy="42211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02DDD4-4DA4-4AB1-8C75-7CE50449BD49}"/>
              </a:ext>
            </a:extLst>
          </p:cNvPr>
          <p:cNvSpPr txBox="1"/>
          <p:nvPr/>
        </p:nvSpPr>
        <p:spPr>
          <a:xfrm>
            <a:off x="1522414" y="1676400"/>
            <a:ext cx="5170005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/>
              <a:t>One beat ECG For each category</a:t>
            </a:r>
          </a:p>
        </p:txBody>
      </p:sp>
    </p:spTree>
    <p:extLst>
      <p:ext uri="{BB962C8B-B14F-4D97-AF65-F5344CB8AC3E}">
        <p14:creationId xmlns:p14="http://schemas.microsoft.com/office/powerpoint/2010/main" val="2254252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812" y="2743200"/>
            <a:ext cx="4953000" cy="315303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1212" y="2743200"/>
            <a:ext cx="4729557" cy="31530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AAC5C4-C8CF-4BC6-86CA-7097CD205BB0}"/>
              </a:ext>
            </a:extLst>
          </p:cNvPr>
          <p:cNvSpPr txBox="1"/>
          <p:nvPr/>
        </p:nvSpPr>
        <p:spPr>
          <a:xfrm>
            <a:off x="1598612" y="1828800"/>
            <a:ext cx="85344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/>
              <a:t>ECG graphs after Data Augmentation</a:t>
            </a:r>
          </a:p>
        </p:txBody>
      </p:sp>
    </p:spTree>
    <p:extLst>
      <p:ext uri="{BB962C8B-B14F-4D97-AF65-F5344CB8AC3E}">
        <p14:creationId xmlns:p14="http://schemas.microsoft.com/office/powerpoint/2010/main" val="3404496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8582A9-D169-4D24-BFA1-3DB22B18BBD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691" y="1752600"/>
            <a:ext cx="5638800" cy="4953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BFB682-C97A-4CF1-AD26-36B54CEB50F4}"/>
              </a:ext>
            </a:extLst>
          </p:cNvPr>
          <p:cNvSpPr txBox="1"/>
          <p:nvPr/>
        </p:nvSpPr>
        <p:spPr>
          <a:xfrm>
            <a:off x="1489690" y="685800"/>
            <a:ext cx="590012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600" b="1" dirty="0"/>
              <a:t>CONFUSION</a:t>
            </a:r>
            <a:r>
              <a:rPr lang="en-US" sz="3600" dirty="0"/>
              <a:t> </a:t>
            </a:r>
            <a:r>
              <a:rPr lang="en-US" sz="3600" b="1" dirty="0"/>
              <a:t>MATRIX</a:t>
            </a:r>
          </a:p>
        </p:txBody>
      </p:sp>
    </p:spTree>
    <p:extLst>
      <p:ext uri="{BB962C8B-B14F-4D97-AF65-F5344CB8AC3E}">
        <p14:creationId xmlns:p14="http://schemas.microsoft.com/office/powerpoint/2010/main" val="3787570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15118-9F64-4660-A7DF-C1BF435B0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PRECISION, RECALL AND F1 SCORE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0AE78B-26E3-4243-8ADE-F80299B00C4A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9" t="1252" r="33333" b="2206"/>
          <a:stretch/>
        </p:blipFill>
        <p:spPr>
          <a:xfrm>
            <a:off x="1827212" y="1752600"/>
            <a:ext cx="3962400" cy="320338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9BCFA3-9FD9-4996-AD12-D89E1057E8E2}"/>
              </a:ext>
            </a:extLst>
          </p:cNvPr>
          <p:cNvSpPr/>
          <p:nvPr/>
        </p:nvSpPr>
        <p:spPr>
          <a:xfrm>
            <a:off x="1522414" y="5749639"/>
            <a:ext cx="8305798" cy="468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  <a:t>F1 score = 2*(Recall * Precision) / (Recall + Precision)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3972E1-691F-4141-A1DA-9A156168B66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762"/>
          <a:stretch/>
        </p:blipFill>
        <p:spPr>
          <a:xfrm>
            <a:off x="6094412" y="1523999"/>
            <a:ext cx="5257800" cy="422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587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6000"/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Algerian" panose="04020705040A02060702" pitchFamily="82" charset="0"/>
              </a:rPr>
              <a:t>References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541042" y="1752600"/>
            <a:ext cx="10744199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1.</a:t>
            </a:r>
            <a:r>
              <a:rPr lang="en-US" sz="3200" b="1" dirty="0">
                <a:hlinkClick r:id="rId3"/>
              </a:rPr>
              <a:t>https://www.researchgate.net/publication/228495437_ECG_measurements_and_acquisition_system_for_heart_rate_variability_analysis</a:t>
            </a:r>
            <a:br>
              <a:rPr lang="en-US" sz="3200" b="1" dirty="0"/>
            </a:br>
            <a:r>
              <a:rPr lang="en-US" sz="3200" b="1" dirty="0"/>
              <a:t>2. </a:t>
            </a:r>
            <a:r>
              <a:rPr lang="en-US" sz="3200" b="1" dirty="0">
                <a:hlinkClick r:id="rId4"/>
              </a:rPr>
              <a:t>https://github.com/mmontana/ECG-heartbeat- </a:t>
            </a:r>
            <a:r>
              <a:rPr lang="en-US" sz="3200" b="1" dirty="0" err="1">
                <a:hlinkClick r:id="rId4"/>
              </a:rPr>
              <a:t>classification?fbclid</a:t>
            </a:r>
            <a:r>
              <a:rPr lang="en-US" sz="3200" b="1" dirty="0">
                <a:hlinkClick r:id="rId4"/>
              </a:rPr>
              <a:t>=IwAR0Mtrh1xKgFruLcBqXszi4EnhDskLPDMGE-jI6mR0tNfTJ10LWxxAABxX8</a:t>
            </a:r>
            <a:br>
              <a:rPr lang="en-US" sz="3200" b="1" dirty="0"/>
            </a:br>
            <a:r>
              <a:rPr lang="en-US" sz="3200" b="1" dirty="0"/>
              <a:t>3. </a:t>
            </a:r>
            <a:r>
              <a:rPr lang="en-US" sz="3200" b="1" dirty="0">
                <a:hlinkClick r:id="rId5"/>
              </a:rPr>
              <a:t>https://github.com/mondejar/ecg-classification?fbclid=IwAR1uIhgK4g8cnB3vUGULfxXjD1X3nKp7lVCF5HTNrmukFJFbgvOZFwRFB-M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845990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198</TotalTime>
  <Words>270</Words>
  <Application>Microsoft Office PowerPoint</Application>
  <PresentationFormat>Custom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Algerian</vt:lpstr>
      <vt:lpstr>Arial</vt:lpstr>
      <vt:lpstr>Calibri</vt:lpstr>
      <vt:lpstr>Consolas</vt:lpstr>
      <vt:lpstr>Corbel</vt:lpstr>
      <vt:lpstr>Times New Roman</vt:lpstr>
      <vt:lpstr>Wingdings</vt:lpstr>
      <vt:lpstr>Chalkboard 16x9</vt:lpstr>
      <vt:lpstr>Predicting arrhythmia Based on ECG</vt:lpstr>
      <vt:lpstr>About</vt:lpstr>
      <vt:lpstr>Dataset</vt:lpstr>
      <vt:lpstr>PowerPoint Presentation</vt:lpstr>
      <vt:lpstr>Explanation about the Algorithm</vt:lpstr>
      <vt:lpstr>Explanation about Code/Library </vt:lpstr>
      <vt:lpstr>Explanation about your Program</vt:lpstr>
      <vt:lpstr>RESULT ANALYSIS</vt:lpstr>
      <vt:lpstr>PowerPoint Presentation</vt:lpstr>
      <vt:lpstr>PowerPoint Presentation</vt:lpstr>
      <vt:lpstr>PRECISION, RECALL AND F1 SCORE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Heart Condition Based on ECG</dc:title>
  <dc:creator>Aakash</dc:creator>
  <cp:lastModifiedBy>sebonti mahnaz</cp:lastModifiedBy>
  <cp:revision>22</cp:revision>
  <dcterms:created xsi:type="dcterms:W3CDTF">2019-03-18T18:43:24Z</dcterms:created>
  <dcterms:modified xsi:type="dcterms:W3CDTF">2026-09-23T22:09:01Z</dcterms:modified>
</cp:coreProperties>
</file>